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58" r:id="rId4"/>
    <p:sldId id="259" r:id="rId5"/>
    <p:sldId id="261" r:id="rId6"/>
    <p:sldId id="262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8047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B9A8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57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Rasin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914400" cy="914400"/>
          </a:xfrm>
          <a:prstGeom prst="ellipse">
            <a:avLst/>
          </a:prstGeom>
          <a:solidFill>
            <a:srgbClr val="1B9A8F"/>
          </a:solidFill>
          <a:ln/>
        </p:spPr>
      </p:sp>
      <p:sp>
        <p:nvSpPr>
          <p:cNvPr id="11" name="Shape 8"/>
          <p:cNvSpPr/>
          <p:nvPr/>
        </p:nvSpPr>
        <p:spPr>
          <a:xfrm>
            <a:off x="356616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AF6F4"/>
          </a:solidFill>
          <a:ln/>
        </p:spPr>
      </p:sp>
      <p:sp>
        <p:nvSpPr>
          <p:cNvPr id="12" name="Shape 9"/>
          <p:cNvSpPr/>
          <p:nvPr/>
        </p:nvSpPr>
        <p:spPr>
          <a:xfrm>
            <a:off x="3767328" y="658368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628" y="772668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4340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76732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Solopreneur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consultants and micro-agencies (1-5 people).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21792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AF6F4"/>
          </a:solidFill>
          <a:ln/>
        </p:spPr>
      </p:sp>
      <p:sp>
        <p:nvSpPr>
          <p:cNvPr id="17" name="Shape 13"/>
          <p:cNvSpPr/>
          <p:nvPr/>
        </p:nvSpPr>
        <p:spPr>
          <a:xfrm>
            <a:off x="6419088" y="658368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388" y="772668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SERVICE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double-entry bookkeeping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tax estimation, built in.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56616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AF6F4"/>
          </a:solidFill>
          <a:ln/>
        </p:spPr>
      </p:sp>
      <p:sp>
        <p:nvSpPr>
          <p:cNvPr id="22" name="Shape 17"/>
          <p:cNvSpPr/>
          <p:nvPr/>
        </p:nvSpPr>
        <p:spPr>
          <a:xfrm>
            <a:off x="3767328" y="2852928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628" y="2967228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34340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ROLE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376732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transactions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and tax are rule-based, never AI. You approve before anything posts.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21792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AF6F4"/>
          </a:solidFill>
          <a:ln/>
        </p:spPr>
      </p:sp>
      <p:sp>
        <p:nvSpPr>
          <p:cNvPr id="27" name="Shape 21"/>
          <p:cNvSpPr/>
          <p:nvPr/>
        </p:nvSpPr>
        <p:spPr>
          <a:xfrm>
            <a:off x="6419088" y="2852928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2967228"/>
            <a:ext cx="228600" cy="228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9516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641908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$$/month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simple tier. Early-access signups get 25% off for life.</a:t>
            </a:r>
            <a:endParaRPr lang="en-US" sz="1500" dirty="0"/>
          </a:p>
        </p:txBody>
      </p:sp>
      <p:pic>
        <p:nvPicPr>
          <p:cNvPr id="32" name="Image 3" descr="preencoded.png">
            <a:extLst>
              <a:ext uri="{FF2B5EF4-FFF2-40B4-BE49-F238E27FC236}">
                <a16:creationId xmlns:a16="http://schemas.microsoft.com/office/drawing/2014/main" id="{BF3770FF-83E3-4D53-9C3B-29C7DC3CC4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703320"/>
            <a:ext cx="494880" cy="49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D5EFE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DETAIL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Rasin, in more detail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bookkeeping and tax estimates, with AI that only categorizes.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76656" y="2505456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2601468"/>
            <a:ext cx="192024" cy="1920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5214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books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46888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2596896" y="2505456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908" y="2601468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7238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sync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676656" y="326440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" y="3360420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Categorizing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46888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2596896" y="326440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2908" y="336042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07238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estimation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676656" y="40233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8" y="4119372"/>
            <a:ext cx="192024" cy="1920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15214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246888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8" name="Shape 21"/>
          <p:cNvSpPr/>
          <p:nvPr/>
        </p:nvSpPr>
        <p:spPr>
          <a:xfrm>
            <a:off x="2596896" y="40233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908" y="4119372"/>
            <a:ext cx="192024" cy="19202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7238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66344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4663440" y="2404872"/>
            <a:ext cx="411480" cy="411480"/>
          </a:xfrm>
          <a:prstGeom prst="ellipse">
            <a:avLst/>
          </a:prstGeom>
          <a:solidFill>
            <a:srgbClr val="D5EFEC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6310" y="2507742"/>
            <a:ext cx="205740" cy="20574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257800" y="237744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sorts each bank transaction into a category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4663440" y="2953512"/>
            <a:ext cx="411480" cy="411480"/>
          </a:xfrm>
          <a:prstGeom prst="ellipse">
            <a:avLst/>
          </a:prstGeom>
          <a:solidFill>
            <a:srgbClr val="D5EFEC"/>
          </a:solidFill>
          <a:ln/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6310" y="3056382"/>
            <a:ext cx="205740" cy="20574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257800" y="29260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category comes with a confidence score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4663440" y="3502152"/>
            <a:ext cx="411480" cy="411480"/>
          </a:xfrm>
          <a:prstGeom prst="ellipse">
            <a:avLst/>
          </a:prstGeom>
          <a:solidFill>
            <a:srgbClr val="D5EFEC"/>
          </a:solidFill>
          <a:ln/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6310" y="3605022"/>
            <a:ext cx="205740" cy="20574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257800" y="347472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estimates use fixed rules, never AI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4663440" y="4050792"/>
            <a:ext cx="411480" cy="411480"/>
          </a:xfrm>
          <a:prstGeom prst="ellipse">
            <a:avLst/>
          </a:prstGeom>
          <a:solidFill>
            <a:srgbClr val="D5EFEC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6310" y="4153662"/>
            <a:ext cx="205740" cy="20574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5257800" y="402336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posts until you approve it, and every change is logged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5608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57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6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management, with AI doing the chasing.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914400" cy="914400"/>
          </a:xfrm>
          <a:prstGeom prst="ellipse">
            <a:avLst/>
          </a:prstGeom>
          <a:solidFill>
            <a:srgbClr val="35608F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4904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6616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7EDF4"/>
          </a:solidFill>
          <a:ln/>
        </p:spPr>
      </p:sp>
      <p:sp>
        <p:nvSpPr>
          <p:cNvPr id="10" name="Shape 7"/>
          <p:cNvSpPr/>
          <p:nvPr/>
        </p:nvSpPr>
        <p:spPr>
          <a:xfrm>
            <a:off x="3767328" y="658368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1628" y="77266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376732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Landlords and real estate offices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managing many units and tenants.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21792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7EDF4"/>
          </a:solidFill>
          <a:ln/>
        </p:spPr>
      </p:sp>
      <p:sp>
        <p:nvSpPr>
          <p:cNvPr id="15" name="Shape 11"/>
          <p:cNvSpPr/>
          <p:nvPr/>
        </p:nvSpPr>
        <p:spPr>
          <a:xfrm>
            <a:off x="6419088" y="658368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77266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9516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SERVICE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641908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every unit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Tenants, lease contracts, rent, repairs and owner reports.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56616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7EDF4"/>
          </a:solidFill>
          <a:ln/>
        </p:spPr>
      </p:sp>
      <p:sp>
        <p:nvSpPr>
          <p:cNvPr id="20" name="Shape 15"/>
          <p:cNvSpPr/>
          <p:nvPr/>
        </p:nvSpPr>
        <p:spPr>
          <a:xfrm>
            <a:off x="3767328" y="2852928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628" y="2967228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34340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ROLE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376732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chasing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leases, chases rent on WhatsApp, sorts repairs, writes owner statements.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621792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E7EDF4"/>
          </a:solidFill>
          <a:ln/>
        </p:spPr>
      </p:sp>
      <p:sp>
        <p:nvSpPr>
          <p:cNvPr id="25" name="Shape 19"/>
          <p:cNvSpPr/>
          <p:nvPr/>
        </p:nvSpPr>
        <p:spPr>
          <a:xfrm>
            <a:off x="6419088" y="2852928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296722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9516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41908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subscription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unit, or a flat plan.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DCE4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DETAIL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Manager, in more detail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tenant and lease history lives in one place, so it becomes hard to leave.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manages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76656" y="2505456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2601468"/>
            <a:ext cx="192024" cy="1920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5214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46888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2596896" y="2505456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908" y="2601468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7238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676656" y="3264408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" y="3360420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contracts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46888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2596896" y="3264408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908" y="336042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07238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collection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676656" y="4023360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668" y="4119372"/>
            <a:ext cx="192024" cy="1920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15214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246888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8" name="Shape 21"/>
          <p:cNvSpPr/>
          <p:nvPr/>
        </p:nvSpPr>
        <p:spPr>
          <a:xfrm>
            <a:off x="2596896" y="4023360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92908" y="4119372"/>
            <a:ext cx="192024" cy="19202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7238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reports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66344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does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4663440" y="2404872"/>
            <a:ext cx="411480" cy="411480"/>
          </a:xfrm>
          <a:prstGeom prst="ellipse">
            <a:avLst/>
          </a:prstGeom>
          <a:solidFill>
            <a:srgbClr val="DCE4EE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6310" y="2507742"/>
            <a:ext cx="205740" cy="20574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257800" y="237744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lease contracts and pulls out key terms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4663440" y="2953512"/>
            <a:ext cx="411480" cy="411480"/>
          </a:xfrm>
          <a:prstGeom prst="ellipse">
            <a:avLst/>
          </a:prstGeom>
          <a:solidFill>
            <a:srgbClr val="DCE4EE"/>
          </a:solidFill>
          <a:ln/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6310" y="3056382"/>
            <a:ext cx="205740" cy="20574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257800" y="29260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Chases late rent on WhatsApp, automatically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4663440" y="3502152"/>
            <a:ext cx="411480" cy="411480"/>
          </a:xfrm>
          <a:prstGeom prst="ellipse">
            <a:avLst/>
          </a:prstGeom>
          <a:solidFill>
            <a:srgbClr val="DCE4EE"/>
          </a:solidFill>
          <a:ln/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6310" y="3605022"/>
            <a:ext cx="205740" cy="20574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257800" y="347472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repair requests: photo in, category and urgency out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4663440" y="4050792"/>
            <a:ext cx="411480" cy="411480"/>
          </a:xfrm>
          <a:prstGeom prst="ellipse">
            <a:avLst/>
          </a:prstGeom>
          <a:solidFill>
            <a:srgbClr val="DCE4EE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6310" y="4153662"/>
            <a:ext cx="205740" cy="20574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5257800" y="402336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monthly statements for owners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9D2B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B84A7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57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Secretary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6D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Secretary work, done automatically.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914400" cy="914400"/>
          </a:xfrm>
          <a:prstGeom prst="ellipse">
            <a:avLst/>
          </a:prstGeom>
          <a:solidFill>
            <a:srgbClr val="B84A7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4904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6616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8E9F0"/>
          </a:solidFill>
          <a:ln/>
        </p:spPr>
      </p:sp>
      <p:sp>
        <p:nvSpPr>
          <p:cNvPr id="10" name="Shape 7"/>
          <p:cNvSpPr/>
          <p:nvPr/>
        </p:nvSpPr>
        <p:spPr>
          <a:xfrm>
            <a:off x="3767328" y="658368"/>
            <a:ext cx="457200" cy="457200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628" y="77266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376732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and offices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A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wants secretary work done without hiring one.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217920" y="45720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8E9F0"/>
          </a:solidFill>
          <a:ln/>
        </p:spPr>
      </p:sp>
      <p:sp>
        <p:nvSpPr>
          <p:cNvPr id="15" name="Shape 11"/>
          <p:cNvSpPr/>
          <p:nvPr/>
        </p:nvSpPr>
        <p:spPr>
          <a:xfrm>
            <a:off x="6419088" y="658368"/>
            <a:ext cx="457200" cy="457200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388" y="77266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95160" y="658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SERVICE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6419088" y="126187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routine admin work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A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messages, appointments, reminders and emails.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56616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8E9F0"/>
          </a:solidFill>
          <a:ln/>
        </p:spPr>
      </p:sp>
      <p:sp>
        <p:nvSpPr>
          <p:cNvPr id="20" name="Shape 15"/>
          <p:cNvSpPr/>
          <p:nvPr/>
        </p:nvSpPr>
        <p:spPr>
          <a:xfrm>
            <a:off x="3767328" y="2852928"/>
            <a:ext cx="457200" cy="457200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628" y="2967228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34340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ROLE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376732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repetitive work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A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questions, books appointments and drafts replies. Complex cases go to a person.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6217920" y="265176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8E9F0"/>
          </a:solidFill>
          <a:ln/>
        </p:spPr>
      </p:sp>
      <p:sp>
        <p:nvSpPr>
          <p:cNvPr id="25" name="Shape 19"/>
          <p:cNvSpPr/>
          <p:nvPr/>
        </p:nvSpPr>
        <p:spPr>
          <a:xfrm>
            <a:off x="6419088" y="2852928"/>
            <a:ext cx="457200" cy="457200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296722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95160" y="28529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419088" y="3456432"/>
            <a:ext cx="20665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subscription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A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well below a secretary's salary.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3D9E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DETAIL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A1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Secretary, in more detail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repetitive parts of a secretary's day, handled automatically.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handles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76656" y="2505456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2601468"/>
            <a:ext cx="192024" cy="1920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5214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468880" y="23774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2596896" y="2505456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908" y="2601468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72384" y="23774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676656" y="3264408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" y="3360420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468880" y="3136392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2596896" y="3264408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2908" y="336042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072384" y="3136392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676656" y="4023360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8" y="4119372"/>
            <a:ext cx="192024" cy="1920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15214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2468880" y="3895344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8" name="Shape 21"/>
          <p:cNvSpPr/>
          <p:nvPr/>
        </p:nvSpPr>
        <p:spPr>
          <a:xfrm>
            <a:off x="2596896" y="4023360"/>
            <a:ext cx="384048" cy="384048"/>
          </a:xfrm>
          <a:prstGeom prst="ellipse">
            <a:avLst/>
          </a:prstGeom>
          <a:solidFill>
            <a:srgbClr val="9D2B5E"/>
          </a:solidFill>
          <a:ln/>
        </p:spPr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908" y="4119372"/>
            <a:ext cx="192024" cy="19202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72384" y="38953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66344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D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does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4663440" y="2404872"/>
            <a:ext cx="411480" cy="411480"/>
          </a:xfrm>
          <a:prstGeom prst="ellipse">
            <a:avLst/>
          </a:prstGeom>
          <a:solidFill>
            <a:srgbClr val="F3D9E6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6310" y="2507742"/>
            <a:ext cx="205740" cy="20574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257800" y="237744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routine questions: hours, prices, directions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4663440" y="2953512"/>
            <a:ext cx="411480" cy="411480"/>
          </a:xfrm>
          <a:prstGeom prst="ellipse">
            <a:avLst/>
          </a:prstGeom>
          <a:solidFill>
            <a:srgbClr val="F3D9E6"/>
          </a:solidFill>
          <a:ln/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6310" y="3056382"/>
            <a:ext cx="205740" cy="20574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257800" y="29260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Books, moves and confirms appointments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4663440" y="3502152"/>
            <a:ext cx="411480" cy="411480"/>
          </a:xfrm>
          <a:prstGeom prst="ellipse">
            <a:avLst/>
          </a:prstGeom>
          <a:solidFill>
            <a:srgbClr val="F3D9E6"/>
          </a:solidFill>
          <a:ln/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6310" y="3605022"/>
            <a:ext cx="205740" cy="20574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257800" y="347472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replies and follow-ups for you to approve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4663440" y="4050792"/>
            <a:ext cx="411480" cy="411480"/>
          </a:xfrm>
          <a:prstGeom prst="ellipse">
            <a:avLst/>
          </a:prstGeom>
          <a:solidFill>
            <a:srgbClr val="F3D9E6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6310" y="4153662"/>
            <a:ext cx="205740" cy="20574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5257800" y="402336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1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complex or sensitive cases to a person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425</Words>
  <Application>Microsoft Office PowerPoint</Application>
  <PresentationFormat>On-screen Show (16:9)</PresentationFormat>
  <Paragraphs>94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Rasin and Property Manager</dc:title>
  <dc:subject>PptxGenJS Presentation</dc:subject>
  <dc:creator>PptxGenJS</dc:creator>
  <cp:lastModifiedBy>Orange</cp:lastModifiedBy>
  <cp:revision>3</cp:revision>
  <dcterms:created xsi:type="dcterms:W3CDTF">2026-09-20T12:30:37Z</dcterms:created>
  <dcterms:modified xsi:type="dcterms:W3CDTF">2026-09-20T12:55:31Z</dcterms:modified>
</cp:coreProperties>
</file>